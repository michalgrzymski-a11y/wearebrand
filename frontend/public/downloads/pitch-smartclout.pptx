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61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03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777240"/>
            <a:ext cx="320040" cy="9525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6858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200">
                <a:solidFill>
                  <a:srgbClr val="7CC4C0"/>
                </a:solidFill>
                <a:latin typeface="Manrope"/>
              </a:rPr>
              <a:t>SMART CLOUT · TWÓJ PARTNER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8229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anrope"/>
              </a:rPr>
              <a:t>Nowoczesna infrastruktura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8229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06FFE0"/>
                </a:solidFill>
                <a:latin typeface="Manrope"/>
              </a:rPr>
              <a:t>dla wymagających klientów.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63240"/>
            <a:ext cx="7772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C7D8DB"/>
                </a:solidFill>
                <a:latin typeface="Manrope"/>
              </a:rPr>
              <a:t>Projektujemy, wdrażamy i utrzymujemy infrastrukturę serwerową, sieciową i pamięci masowych klasy enterprise. Autoryzowany partner NetApp, Fortinet, baramundi i innych czołowych vendorów.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709160"/>
            <a:ext cx="2286000" cy="1234440"/>
          </a:xfrm>
          <a:prstGeom prst="roundRect">
            <a:avLst>
              <a:gd name="adj" fmla="val 8000"/>
            </a:avLst>
          </a:prstGeom>
          <a:solidFill>
            <a:srgbClr val="0B1417"/>
          </a:solidFill>
          <a:ln>
            <a:solidFill>
              <a:srgbClr val="1A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84632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6FFE0"/>
                </a:solidFill>
                <a:latin typeface="Manrope"/>
              </a:rPr>
              <a:t>12+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422392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100">
                <a:solidFill>
                  <a:srgbClr val="9FB5B8"/>
                </a:solidFill>
                <a:latin typeface="Manrope"/>
              </a:rPr>
              <a:t>lat na rynku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54680" y="4709160"/>
            <a:ext cx="2286000" cy="1234440"/>
          </a:xfrm>
          <a:prstGeom prst="roundRect">
            <a:avLst>
              <a:gd name="adj" fmla="val 8000"/>
            </a:avLst>
          </a:prstGeom>
          <a:solidFill>
            <a:srgbClr val="0B1417"/>
          </a:solidFill>
          <a:ln>
            <a:solidFill>
              <a:srgbClr val="1A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484632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6FFE0"/>
                </a:solidFill>
                <a:latin typeface="Manrope"/>
              </a:rPr>
              <a:t>100+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5422392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100">
                <a:solidFill>
                  <a:srgbClr val="9FB5B8"/>
                </a:solidFill>
                <a:latin typeface="Manrope"/>
              </a:rPr>
              <a:t>wdrożeń klasy enterprise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0" y="4709160"/>
            <a:ext cx="2286000" cy="1234440"/>
          </a:xfrm>
          <a:prstGeom prst="roundRect">
            <a:avLst>
              <a:gd name="adj" fmla="val 8000"/>
            </a:avLst>
          </a:prstGeom>
          <a:solidFill>
            <a:srgbClr val="0B1417"/>
          </a:solidFill>
          <a:ln>
            <a:solidFill>
              <a:srgbClr val="1A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0" y="484632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6FFE0"/>
                </a:solidFill>
                <a:latin typeface="Manrope"/>
              </a:rPr>
              <a:t>24/7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5422392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100">
                <a:solidFill>
                  <a:srgbClr val="9FB5B8"/>
                </a:solidFill>
                <a:latin typeface="Manrope"/>
              </a:rPr>
              <a:t>wsparcie techniczne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4709160"/>
            <a:ext cx="2286000" cy="1234440"/>
          </a:xfrm>
          <a:prstGeom prst="roundRect">
            <a:avLst>
              <a:gd name="adj" fmla="val 8000"/>
            </a:avLst>
          </a:prstGeom>
          <a:solidFill>
            <a:srgbClr val="0B1417"/>
          </a:solidFill>
          <a:ln>
            <a:solidFill>
              <a:srgbClr val="1A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484632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6FFE0"/>
                </a:solidFill>
                <a:latin typeface="Manrope"/>
              </a:rPr>
              <a:t>PL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5422392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100">
                <a:solidFill>
                  <a:srgbClr val="9FB5B8"/>
                </a:solidFill>
                <a:latin typeface="Manrope"/>
              </a:rPr>
              <a:t>polski zespół inżynierów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685800"/>
            <a:ext cx="2011680" cy="594360"/>
          </a:xfrm>
          <a:prstGeom prst="roundRect">
            <a:avLst>
              <a:gd name="adj" fmla="val 30000"/>
            </a:avLst>
          </a:prstGeom>
          <a:solidFill>
            <a:srgbClr val="061F22"/>
          </a:solidFill>
          <a:ln>
            <a:solidFill>
              <a:srgbClr val="00B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0" y="685800"/>
            <a:ext cx="20116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spc="300">
                <a:solidFill>
                  <a:srgbClr val="06FFE0"/>
                </a:solidFill>
                <a:latin typeface="Manrope"/>
              </a:rPr>
              <a:t>SMART  CLOUT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2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5562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00">
                <a:solidFill>
                  <a:srgbClr val="6B878B"/>
                </a:solidFill>
                <a:latin typeface="Manrope"/>
              </a:rPr>
              <a:t>smartclout.pl   ·   +48 533 956 934   ·   Turek, PL   ·   KRS 0000952777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85800"/>
            <a:ext cx="365760" cy="9525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9436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200">
                <a:solidFill>
                  <a:srgbClr val="0C5C62"/>
                </a:solidFill>
                <a:latin typeface="Manrope"/>
              </a:rPr>
              <a:t>PORTFOLIO KOMPETENCJI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0C5C62"/>
                </a:solidFill>
                <a:latin typeface="Manrope"/>
              </a:rPr>
              <a:t>Cztery filary naszej oferty.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525780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5E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5257800" cy="73152"/>
          </a:xfrm>
          <a:prstGeom prst="rect">
            <a:avLst/>
          </a:prstGeom>
          <a:solidFill>
            <a:srgbClr val="06F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68980" y="2103120"/>
            <a:ext cx="2628900" cy="7315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359152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50">
                <a:solidFill>
                  <a:srgbClr val="00B8D4"/>
                </a:solidFill>
                <a:latin typeface="Manrope"/>
              </a:rPr>
              <a:t>SPRZĘT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88920"/>
            <a:ext cx="4617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C5C62"/>
                </a:solidFill>
                <a:latin typeface="Manrope"/>
              </a:rPr>
              <a:t>Serwery · macierze NetApp · przełączniki · UPS · biblioteki LTO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611880"/>
            <a:ext cx="4617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7A80"/>
                </a:solidFill>
                <a:latin typeface="Manrope"/>
              </a:rPr>
              <a:t>Rack-mount HW, projekty green-field i modernizacja DC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103120"/>
            <a:ext cx="525780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5E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2103120"/>
            <a:ext cx="5257800" cy="73152"/>
          </a:xfrm>
          <a:prstGeom prst="rect">
            <a:avLst/>
          </a:prstGeom>
          <a:solidFill>
            <a:srgbClr val="06F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892540" y="2103120"/>
            <a:ext cx="2628900" cy="7315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359152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50">
                <a:solidFill>
                  <a:srgbClr val="00B8D4"/>
                </a:solidFill>
                <a:latin typeface="Manrope"/>
              </a:rPr>
              <a:t>BEZPIECZEŃSTWO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788920"/>
            <a:ext cx="4617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C5C62"/>
                </a:solidFill>
                <a:latin typeface="Manrope"/>
              </a:rPr>
              <a:t>NGFW · DLP · IDM · UEM/MDM · SIEM · backup immutable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611880"/>
            <a:ext cx="4617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7A80"/>
                </a:solidFill>
                <a:latin typeface="Manrope"/>
              </a:rPr>
              <a:t>Fortinet, Palo Alto, baramundi, Veeam — kompletny stack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572000"/>
            <a:ext cx="525780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5E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572000"/>
            <a:ext cx="5257800" cy="73152"/>
          </a:xfrm>
          <a:prstGeom prst="rect">
            <a:avLst/>
          </a:prstGeom>
          <a:solidFill>
            <a:srgbClr val="06F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68980" y="4572000"/>
            <a:ext cx="2628900" cy="7315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828032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50">
                <a:solidFill>
                  <a:srgbClr val="00B8D4"/>
                </a:solidFill>
                <a:latin typeface="Manrope"/>
              </a:rPr>
              <a:t>OPROGRAMOWANIE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257800"/>
            <a:ext cx="4617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C5C62"/>
                </a:solidFill>
                <a:latin typeface="Manrope"/>
              </a:rPr>
              <a:t>Licencje · bazy danych · virtualizacja · modern workspace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6080760"/>
            <a:ext cx="4617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7A80"/>
                </a:solidFill>
                <a:latin typeface="Manrope"/>
              </a:rPr>
              <a:t>Microsoft, VMware, Broadcom — audyt i optymalizacja licencji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4572000"/>
            <a:ext cx="525780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5E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4572000"/>
            <a:ext cx="5257800" cy="73152"/>
          </a:xfrm>
          <a:prstGeom prst="rect">
            <a:avLst/>
          </a:prstGeom>
          <a:solidFill>
            <a:srgbClr val="06F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92540" y="4572000"/>
            <a:ext cx="2628900" cy="7315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4828032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50">
                <a:solidFill>
                  <a:srgbClr val="00B8D4"/>
                </a:solidFill>
                <a:latin typeface="Manrope"/>
              </a:rPr>
              <a:t>CHMURA &amp; DATACENTER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257800"/>
            <a:ext cx="4617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C5C62"/>
                </a:solidFill>
                <a:latin typeface="Manrope"/>
              </a:rPr>
              <a:t>Hybrid cloud · DR · konsolidacja · migracje · outsourcing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080760"/>
            <a:ext cx="4617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7A80"/>
                </a:solidFill>
                <a:latin typeface="Manrope"/>
              </a:rPr>
              <a:t>Azure, AWS, on-prem — projektowanie i utrzymanie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C5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65562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00">
                <a:solidFill>
                  <a:srgbClr val="F6F9FA"/>
                </a:solidFill>
                <a:latin typeface="Manrope"/>
              </a:rPr>
              <a:t>SmartClout Sp. z o.o.   ·   NIP 5842813752   ·   REGON 521229601   ·   smartclout.pl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